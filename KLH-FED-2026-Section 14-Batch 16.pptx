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5" r:id="rId8"/>
    <p:sldId id="266" r:id="rId9"/>
    <p:sldId id="262" r:id="rId10"/>
    <p:sldId id="263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238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49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595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926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082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1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684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016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259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906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075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44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567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83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197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3865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907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34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921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340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56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3315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054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32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253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7C6C-1EBC-F4B7-83C7-D99E865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492D-852C-FC61-6207-1BDB53A6D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55CF4-2077-1032-72E2-AD6960FE6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77366-0ACE-FAC9-832D-0CFB65160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D4A5D-CA0C-D297-C679-955D1B85D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A4527-3E57-BF94-C2D7-852A6DC60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BC307-CE28-114A-B452-759A9C1D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BC58C-24B7-8A0E-3D61-651BAE86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43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AADC-4B28-A3E3-E769-EE82D882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3E699-F4FB-D297-EDC2-A7D14DF1D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50009-A52F-2281-53ED-C52559E4C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EE583-0CF8-303B-CFF9-74794270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439EF-4BD5-1CDA-D988-8E827C88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9D09E-5737-C52B-799C-EE83129B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31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4EC68F03-6FE3-479F-B012-87F057FC74D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E1DABD4-9C85-42A3-AEFA-809120D4C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51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8C15-A98D-03EC-EF06-896B81C10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DESIGN AND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987B6-2AD8-386E-6152-B37CA5B2E0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OUTCOME 1 PROJECT</a:t>
            </a:r>
          </a:p>
        </p:txBody>
      </p:sp>
    </p:spTree>
    <p:extLst>
      <p:ext uri="{BB962C8B-B14F-4D97-AF65-F5344CB8AC3E}">
        <p14:creationId xmlns:p14="http://schemas.microsoft.com/office/powerpoint/2010/main" val="823250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F3E5-9F91-64B7-C40E-E9F88CF2F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01" y="-100584"/>
            <a:ext cx="10515600" cy="2852737"/>
          </a:xfrm>
        </p:spPr>
        <p:txBody>
          <a:bodyPr/>
          <a:lstStyle/>
          <a:p>
            <a:r>
              <a:rPr lang="en-US" u="sng" dirty="0">
                <a:solidFill>
                  <a:srgbClr val="92D050">
                    <a:alpha val="5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TITLE:</a:t>
            </a:r>
            <a:endParaRPr lang="en-IN" u="sng" dirty="0">
              <a:solidFill>
                <a:srgbClr val="92D050">
                  <a:alpha val="5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B496C-1F28-A6D3-AFE6-634C3C1E4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10515600" cy="150018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DESIGNING AND SIMULATION OF HALF-ADDER AND FULL-ADDER CIRCUITS</a:t>
            </a:r>
            <a:endParaRPr lang="en-IN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836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27DB-2133-8D85-A7C9-F45F4EFA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401701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       </a:t>
            </a:r>
            <a:r>
              <a:rPr lang="en-US" dirty="0">
                <a:highlight>
                  <a:srgbClr val="C0C0C0"/>
                </a:highlight>
              </a:rPr>
              <a:t>PRESENTED BY: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9F6E-CCA9-CFD0-E7B2-00B50A8E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29550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                                             1. NIKHIL SRIVATSA-</a:t>
            </a:r>
            <a:r>
              <a:rPr lang="en-US" i="1" dirty="0"/>
              <a:t>2620090029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2. SRI VISHWA CHAITANYA-</a:t>
            </a:r>
            <a:r>
              <a:rPr lang="en-US" i="1" dirty="0"/>
              <a:t>2620090036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3. DARAPU VINOD KUMAR-</a:t>
            </a:r>
            <a:r>
              <a:rPr lang="en-US" i="1" dirty="0"/>
              <a:t>2620090068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4. JASWANTH POORNA SAI-</a:t>
            </a:r>
            <a:r>
              <a:rPr lang="en-US" i="1" dirty="0"/>
              <a:t>2620090097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081764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C15F-9632-FC94-A09B-394E76C9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</a:t>
            </a:r>
            <a:r>
              <a:rPr lang="en-US" dirty="0">
                <a:highlight>
                  <a:srgbClr val="C0C0C0"/>
                </a:highlight>
              </a:rPr>
              <a:t>PROJECT OBJECTIVES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2F398E-C343-B0B2-5E98-B89C6F71C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>
                <a:effectLst/>
              </a:rPr>
              <a:t>Understand Binary Addition Basics</a:t>
            </a:r>
            <a:endParaRPr lang="en-IN" dirty="0"/>
          </a:p>
          <a:p>
            <a:pPr lvl="1"/>
            <a:r>
              <a:rPr lang="en-IN" dirty="0">
                <a:effectLst/>
              </a:rPr>
              <a:t>Grasp the fundamental principles of binary addition and how logic gates implement arithmetic operations.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Design a Half Adder Circuit</a:t>
            </a:r>
            <a:endParaRPr lang="en-IN" dirty="0"/>
          </a:p>
          <a:p>
            <a:pPr lvl="1"/>
            <a:r>
              <a:rPr lang="en-IN" dirty="0">
                <a:effectLst/>
              </a:rPr>
              <a:t>Construct a half adder using XOR and AND gates to perform single-bit addition without a carry input.</a:t>
            </a:r>
            <a:endParaRPr lang="en-IN" dirty="0"/>
          </a:p>
          <a:p>
            <a:pPr lvl="1"/>
            <a:r>
              <a:rPr lang="en-IN" dirty="0">
                <a:effectLst/>
              </a:rPr>
              <a:t>Verify its correctness using a truth table.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Design a Full Adder Circuit</a:t>
            </a:r>
            <a:endParaRPr lang="en-IN" dirty="0"/>
          </a:p>
          <a:p>
            <a:pPr lvl="1"/>
            <a:r>
              <a:rPr lang="en-IN" dirty="0">
                <a:effectLst/>
              </a:rPr>
              <a:t>Extend the half- adder design to include a carry-in input, combining two half -adders and an OR gate.</a:t>
            </a:r>
            <a:endParaRPr lang="en-IN" dirty="0"/>
          </a:p>
          <a:p>
            <a:pPr lvl="1"/>
            <a:r>
              <a:rPr lang="en-IN" dirty="0">
                <a:effectLst/>
              </a:rPr>
              <a:t>Demonstrate accurate addition of three binary inputs.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26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D08C-B2B1-E02E-EEAE-85772C67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12" y="-131764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      </a:t>
            </a:r>
            <a:r>
              <a:rPr lang="en-US" dirty="0">
                <a:highlight>
                  <a:srgbClr val="C0C0C0"/>
                </a:highlight>
              </a:rPr>
              <a:t>BASIC CONCEPT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46A24-56DF-0CA8-3538-E3FA9B9E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612" y="1685925"/>
            <a:ext cx="5157787" cy="823912"/>
          </a:xfrm>
        </p:spPr>
        <p:txBody>
          <a:bodyPr/>
          <a:lstStyle/>
          <a:p>
            <a:r>
              <a:rPr lang="en-US" dirty="0"/>
              <a:t>HALF ADDER CIRCUIT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D39BA-8146-7488-D99A-D5646D490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6813" y="2358771"/>
            <a:ext cx="5157787" cy="3684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0"/>
            <a:r>
              <a:rPr lang="en-IN" b="1" dirty="0">
                <a:effectLst/>
              </a:rPr>
              <a:t>Purpose</a:t>
            </a:r>
            <a:r>
              <a:rPr lang="en-IN" dirty="0">
                <a:effectLst/>
              </a:rPr>
              <a:t>: Adds two single-bit binary numbers (A and B).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Inputs</a:t>
            </a:r>
            <a:r>
              <a:rPr lang="en-IN" dirty="0">
                <a:effectLst/>
              </a:rPr>
              <a:t>: A, B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Outputs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b="1" dirty="0">
                <a:effectLst/>
              </a:rPr>
              <a:t>Sum (S)</a:t>
            </a:r>
            <a:r>
              <a:rPr lang="en-IN" dirty="0">
                <a:effectLst/>
              </a:rPr>
              <a:t> → Generated using an XOR gate (</a:t>
            </a:r>
            <a:r>
              <a:rPr lang="en-IN" dirty="0"/>
              <a:t>A ⊕ B</a:t>
            </a:r>
            <a:r>
              <a:rPr lang="en-IN" dirty="0">
                <a:effectLst/>
              </a:rPr>
              <a:t>)</a:t>
            </a:r>
            <a:endParaRPr lang="en-IN" dirty="0"/>
          </a:p>
          <a:p>
            <a:pPr lvl="1"/>
            <a:r>
              <a:rPr lang="en-IN" b="1" dirty="0">
                <a:effectLst/>
              </a:rPr>
              <a:t>Carry (C)</a:t>
            </a:r>
            <a:r>
              <a:rPr lang="en-IN" dirty="0">
                <a:effectLst/>
              </a:rPr>
              <a:t> → Generated using AND gate (</a:t>
            </a:r>
            <a:r>
              <a:rPr lang="en-IN" dirty="0"/>
              <a:t>A · B</a:t>
            </a:r>
            <a:r>
              <a:rPr lang="en-IN" dirty="0">
                <a:effectLst/>
              </a:rPr>
              <a:t>)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Concept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The XOR gate gives the sum because it outputs 1 only when the inputs differ.</a:t>
            </a:r>
            <a:endParaRPr lang="en-IN" dirty="0"/>
          </a:p>
          <a:p>
            <a:pPr lvl="1"/>
            <a:r>
              <a:rPr lang="en-IN" dirty="0">
                <a:effectLst/>
              </a:rPr>
              <a:t>The AND gate gives the carry because a carry occurs only when both inputs are 1.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66E73-6DCC-0231-37AC-9D73703D0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47620" y="1690688"/>
            <a:ext cx="5183188" cy="823912"/>
          </a:xfrm>
        </p:spPr>
        <p:txBody>
          <a:bodyPr/>
          <a:lstStyle/>
          <a:p>
            <a:r>
              <a:rPr lang="en-US" dirty="0"/>
              <a:t>FULL ADDER CIRCUIT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F8DDF-A699-9A2D-5B73-2F04EB1B0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93963" y="3006726"/>
            <a:ext cx="5183188" cy="368458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b="1" dirty="0">
                <a:effectLst/>
              </a:rPr>
              <a:t>Purpose</a:t>
            </a:r>
            <a:r>
              <a:rPr lang="en-IN" dirty="0">
                <a:effectLst/>
              </a:rPr>
              <a:t>: Adds three single-bit binary numbers (A, B, and Carry-in).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Inputs</a:t>
            </a:r>
            <a:r>
              <a:rPr lang="en-IN" dirty="0">
                <a:effectLst/>
              </a:rPr>
              <a:t>: A, B, Cin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Outputs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b="1" dirty="0">
                <a:effectLst/>
              </a:rPr>
              <a:t>Sum (S)</a:t>
            </a:r>
            <a:r>
              <a:rPr lang="en-IN" dirty="0">
                <a:effectLst/>
              </a:rPr>
              <a:t> → </a:t>
            </a:r>
            <a:r>
              <a:rPr lang="en-IN" dirty="0"/>
              <a:t>(A ⊕ B) ⊕ Cin</a:t>
            </a:r>
          </a:p>
          <a:p>
            <a:pPr lvl="1"/>
            <a:r>
              <a:rPr lang="en-IN" b="1" dirty="0">
                <a:effectLst/>
              </a:rPr>
              <a:t>Carry (Cout)</a:t>
            </a:r>
            <a:r>
              <a:rPr lang="en-IN" dirty="0">
                <a:effectLst/>
              </a:rPr>
              <a:t> → </a:t>
            </a:r>
            <a:r>
              <a:rPr lang="en-IN" dirty="0"/>
              <a:t>(A · B) + (Cin · (A ⊕ B))</a:t>
            </a:r>
          </a:p>
          <a:p>
            <a:pPr lvl="0"/>
            <a:r>
              <a:rPr lang="en-IN" b="1" dirty="0">
                <a:effectLst/>
              </a:rPr>
              <a:t>Concept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Built using </a:t>
            </a:r>
            <a:r>
              <a:rPr lang="en-IN" b="1" dirty="0">
                <a:effectLst/>
              </a:rPr>
              <a:t>two Half Adders</a:t>
            </a:r>
            <a:r>
              <a:rPr lang="en-IN" dirty="0">
                <a:effectLst/>
              </a:rPr>
              <a:t> and an </a:t>
            </a:r>
            <a:r>
              <a:rPr lang="en-IN" b="1" dirty="0">
                <a:effectLst/>
              </a:rPr>
              <a:t>OR gate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1"/>
            <a:r>
              <a:rPr lang="en-IN" dirty="0"/>
              <a:t>The f</a:t>
            </a:r>
            <a:r>
              <a:rPr lang="en-IN" dirty="0">
                <a:effectLst/>
              </a:rPr>
              <a:t>irst Half Adder adds A and B.</a:t>
            </a:r>
            <a:endParaRPr lang="en-IN" dirty="0"/>
          </a:p>
          <a:p>
            <a:pPr lvl="1"/>
            <a:r>
              <a:rPr lang="en-IN" dirty="0">
                <a:effectLst/>
              </a:rPr>
              <a:t>Second Half Adder adds the Sum from the first stage with Cin.</a:t>
            </a:r>
            <a:endParaRPr lang="en-IN" dirty="0"/>
          </a:p>
          <a:p>
            <a:pPr lvl="1"/>
            <a:r>
              <a:rPr lang="en-IN" dirty="0">
                <a:effectLst/>
              </a:rPr>
              <a:t>The OR gate combines the carry outputs to produce Cout.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890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9E57AC9-244B-C515-58FD-C748493B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98" y="0"/>
            <a:ext cx="10515600" cy="1157288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INPUT COMPONENTS AND OUTPUT DESCRIPTION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8FE14E-4B95-2CC8-2B12-87F3A415B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98" y="1825625"/>
            <a:ext cx="5181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sz="4500" b="1" u="sng" dirty="0"/>
              <a:t>HALF ADDER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sz="2600" b="1" i="1" dirty="0">
                <a:effectLst/>
              </a:rPr>
              <a:t>Inputs:</a:t>
            </a:r>
            <a:endParaRPr lang="en-IN" sz="2600" i="1" dirty="0"/>
          </a:p>
          <a:p>
            <a:pPr lvl="0"/>
            <a:r>
              <a:rPr lang="en-IN" sz="2600" b="1" i="1" dirty="0">
                <a:effectLst/>
              </a:rPr>
              <a:t>A</a:t>
            </a:r>
            <a:r>
              <a:rPr lang="en-IN" sz="2600" i="1" dirty="0">
                <a:effectLst/>
              </a:rPr>
              <a:t> → First single-bit binary input</a:t>
            </a:r>
            <a:endParaRPr lang="en-IN" sz="2600" i="1" dirty="0"/>
          </a:p>
          <a:p>
            <a:pPr lvl="0"/>
            <a:r>
              <a:rPr lang="en-IN" sz="2600" b="1" i="1" dirty="0">
                <a:effectLst/>
              </a:rPr>
              <a:t>B</a:t>
            </a:r>
            <a:r>
              <a:rPr lang="en-IN" sz="2600" i="1" dirty="0">
                <a:effectLst/>
              </a:rPr>
              <a:t> → Second single-bit binary input</a:t>
            </a:r>
            <a:endParaRPr lang="en-IN" sz="2600" i="1" dirty="0"/>
          </a:p>
          <a:p>
            <a:r>
              <a:rPr lang="en-IN" sz="2600" b="1" i="1" dirty="0">
                <a:effectLst/>
              </a:rPr>
              <a:t>Outputs:</a:t>
            </a:r>
            <a:endParaRPr lang="en-IN" sz="2600" i="1" dirty="0"/>
          </a:p>
          <a:p>
            <a:pPr lvl="0"/>
            <a:r>
              <a:rPr lang="en-IN" sz="2600" b="1" i="1" dirty="0">
                <a:effectLst/>
              </a:rPr>
              <a:t>Sum (S)</a:t>
            </a:r>
            <a:r>
              <a:rPr lang="en-IN" sz="2600" i="1" dirty="0">
                <a:effectLst/>
              </a:rPr>
              <a:t> → Produced by XOR gate (</a:t>
            </a:r>
            <a:r>
              <a:rPr lang="en-IN" sz="2600" i="1" dirty="0"/>
              <a:t>A ⊕ B</a:t>
            </a:r>
            <a:r>
              <a:rPr lang="en-IN" sz="2600" i="1" dirty="0">
                <a:effectLst/>
              </a:rPr>
              <a:t>)</a:t>
            </a:r>
            <a:endParaRPr lang="en-IN" sz="2600" i="1" dirty="0"/>
          </a:p>
          <a:p>
            <a:pPr lvl="1"/>
            <a:r>
              <a:rPr lang="en-IN" sz="2600" i="1" dirty="0">
                <a:effectLst/>
              </a:rPr>
              <a:t>Output is 1 when inputs differ (A=0, B=1 or A=1, B=0).</a:t>
            </a:r>
            <a:endParaRPr lang="en-IN" sz="2600" i="1" dirty="0"/>
          </a:p>
          <a:p>
            <a:pPr lvl="0"/>
            <a:r>
              <a:rPr lang="en-IN" sz="2600" b="1" i="1" dirty="0">
                <a:effectLst/>
              </a:rPr>
              <a:t>Carry (C)</a:t>
            </a:r>
            <a:r>
              <a:rPr lang="en-IN" sz="2600" i="1" dirty="0">
                <a:effectLst/>
              </a:rPr>
              <a:t> → Produced by AND gate (</a:t>
            </a:r>
            <a:r>
              <a:rPr lang="en-IN" sz="2600" i="1" dirty="0"/>
              <a:t>A · B</a:t>
            </a:r>
            <a:r>
              <a:rPr lang="en-IN" sz="2600" i="1" dirty="0">
                <a:effectLst/>
              </a:rPr>
              <a:t>)</a:t>
            </a:r>
            <a:endParaRPr lang="en-IN" sz="2600" i="1" dirty="0"/>
          </a:p>
          <a:p>
            <a:pPr lvl="1"/>
            <a:r>
              <a:rPr lang="en-IN" sz="2600" i="1" dirty="0">
                <a:effectLst/>
              </a:rPr>
              <a:t>Output is 1 only when both inputs are 1.</a:t>
            </a:r>
            <a:endParaRPr lang="en-IN" sz="2600" i="1" dirty="0"/>
          </a:p>
          <a:p>
            <a:r>
              <a:rPr lang="en-IN" sz="2600" b="1" i="1" dirty="0">
                <a:effectLst/>
              </a:rPr>
              <a:t>Description:</a:t>
            </a:r>
            <a:r>
              <a:rPr lang="en-IN" sz="2600" i="1" dirty="0">
                <a:effectLst/>
              </a:rPr>
              <a:t> The Half Adder performs addition of two bits but does not account for a carry-in from a previous stage.</a:t>
            </a:r>
            <a:endParaRPr lang="en-IN" sz="2600" i="1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EFFEBB8-A6EF-764D-4ABD-D8432F1AC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4622" y="1825625"/>
            <a:ext cx="5181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sz="4500" b="1" u="sng" dirty="0"/>
              <a:t>FULL ADDER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sz="2500" b="1" i="1" dirty="0">
                <a:effectLst/>
              </a:rPr>
              <a:t>Inputs:</a:t>
            </a:r>
            <a:endParaRPr lang="en-IN" sz="2500" i="1" dirty="0"/>
          </a:p>
          <a:p>
            <a:pPr lvl="0"/>
            <a:r>
              <a:rPr lang="en-IN" sz="2500" b="1" i="1" dirty="0">
                <a:effectLst/>
              </a:rPr>
              <a:t>A</a:t>
            </a:r>
            <a:r>
              <a:rPr lang="en-IN" sz="2500" i="1" dirty="0">
                <a:effectLst/>
              </a:rPr>
              <a:t> → First single-bit binary input</a:t>
            </a:r>
            <a:endParaRPr lang="en-IN" sz="2500" i="1" dirty="0"/>
          </a:p>
          <a:p>
            <a:pPr lvl="0"/>
            <a:r>
              <a:rPr lang="en-IN" sz="2500" b="1" i="1" dirty="0">
                <a:effectLst/>
              </a:rPr>
              <a:t>B</a:t>
            </a:r>
            <a:r>
              <a:rPr lang="en-IN" sz="2500" i="1" dirty="0">
                <a:effectLst/>
              </a:rPr>
              <a:t> → Second single-bit binary input</a:t>
            </a:r>
            <a:endParaRPr lang="en-IN" sz="2500" i="1" dirty="0"/>
          </a:p>
          <a:p>
            <a:pPr lvl="0"/>
            <a:r>
              <a:rPr lang="en-IN" sz="2500" b="1" i="1" dirty="0">
                <a:effectLst/>
              </a:rPr>
              <a:t>Cin (Carry-in)</a:t>
            </a:r>
            <a:r>
              <a:rPr lang="en-IN" sz="2500" i="1" dirty="0">
                <a:effectLst/>
              </a:rPr>
              <a:t> → Carry input from a previous addition</a:t>
            </a:r>
            <a:endParaRPr lang="en-IN" sz="2500" i="1" dirty="0"/>
          </a:p>
          <a:p>
            <a:r>
              <a:rPr lang="en-IN" sz="2500" b="1" i="1" dirty="0">
                <a:effectLst/>
              </a:rPr>
              <a:t>Outputs:</a:t>
            </a:r>
            <a:endParaRPr lang="en-IN" sz="2500" i="1" dirty="0"/>
          </a:p>
          <a:p>
            <a:pPr lvl="0"/>
            <a:r>
              <a:rPr lang="en-IN" sz="2500" b="1" i="1" dirty="0">
                <a:effectLst/>
              </a:rPr>
              <a:t>Sum (S)</a:t>
            </a:r>
            <a:r>
              <a:rPr lang="en-IN" sz="2500" i="1" dirty="0">
                <a:effectLst/>
              </a:rPr>
              <a:t> → </a:t>
            </a:r>
            <a:r>
              <a:rPr lang="en-IN" sz="2500" i="1" dirty="0"/>
              <a:t>(A ⊕ B) ⊕ Cin</a:t>
            </a:r>
          </a:p>
          <a:p>
            <a:pPr lvl="1"/>
            <a:r>
              <a:rPr lang="en-IN" sz="2500" i="1" dirty="0">
                <a:effectLst/>
              </a:rPr>
              <a:t>Output is 1 when an odd number of inputs are 1.</a:t>
            </a:r>
            <a:endParaRPr lang="en-IN" sz="2500" i="1" dirty="0"/>
          </a:p>
          <a:p>
            <a:pPr lvl="0"/>
            <a:r>
              <a:rPr lang="en-IN" sz="2500" b="1" i="1" dirty="0">
                <a:effectLst/>
              </a:rPr>
              <a:t>Carry-out (Cout)</a:t>
            </a:r>
            <a:r>
              <a:rPr lang="en-IN" sz="2500" i="1" dirty="0">
                <a:effectLst/>
              </a:rPr>
              <a:t> → </a:t>
            </a:r>
            <a:r>
              <a:rPr lang="en-IN" sz="2500" i="1" dirty="0"/>
              <a:t>(A · B) + (Cin · (A ⊕ B))</a:t>
            </a:r>
          </a:p>
          <a:p>
            <a:pPr lvl="1"/>
            <a:r>
              <a:rPr lang="en-IN" sz="2500" i="1" dirty="0">
                <a:effectLst/>
              </a:rPr>
              <a:t>Output is 1 when at least two inputs are 1.</a:t>
            </a:r>
            <a:endParaRPr lang="en-IN" sz="2500" i="1" dirty="0"/>
          </a:p>
          <a:p>
            <a:r>
              <a:rPr lang="en-IN" sz="2500" b="1" i="1" dirty="0">
                <a:effectLst/>
              </a:rPr>
              <a:t>Description:</a:t>
            </a:r>
            <a:r>
              <a:rPr lang="en-IN" sz="2500" i="1" dirty="0">
                <a:effectLst/>
              </a:rPr>
              <a:t> The Full Adder extends the Half Adder by including a carry-in, making it suitable for chaining multiple adders to perform multi-bit binary addition</a:t>
            </a:r>
            <a:endParaRPr lang="en-IN" sz="2500" i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830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BAF20A-7B96-37D9-1B23-099CF510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268781"/>
            <a:ext cx="10515600" cy="1330468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LOGIC DESIGN FOR HALF ADDER CIRCUIT</a:t>
            </a:r>
            <a:endParaRPr lang="en-IN" dirty="0">
              <a:highlight>
                <a:srgbClr val="C0C0C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C236DFF2-43AE-4885-92FD-E05A7667852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2812574"/>
              <a:ext cx="10515600" cy="224859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93119968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990737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13620696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70597742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Component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Logic Expression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102326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First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60593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Second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43237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XOR 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Produces the Sum 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IN"/>
                                  <m:t>Sum</m:t>
                                </m:r>
                                <m:r>
                                  <a:rPr lang="en-IN"/>
                                  <m:t>=</m:t>
                                </m:r>
                                <m:r>
                                  <a:rPr lang="en-IN"/>
                                  <m:t>𝐴</m:t>
                                </m:r>
                                <m:nary>
                                  <m:naryPr>
                                    <m:chr m:val="⊕"/>
                                    <m:subHide m:val="on"/>
                                    <m:supHide m:val="on"/>
                                    <m:ctrlPr>
                                      <a:rPr lang="en-IN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IN"/>
                                      <m:t>𝐵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0297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AND 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·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Produces the Carry 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IN"/>
                                  <m:t>Carry</m:t>
                                </m:r>
                                <m:r>
                                  <a:rPr lang="en-IN"/>
                                  <m:t>=</m:t>
                                </m:r>
                                <m:r>
                                  <a:rPr lang="en-IN"/>
                                  <m:t>𝐴</m:t>
                                </m:r>
                                <m:r>
                                  <a:rPr lang="en-IN"/>
                                  <m:t>⋅</m:t>
                                </m:r>
                                <m:r>
                                  <a:rPr lang="en-IN"/>
                                  <m:t>𝐵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21954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C236DFF2-43AE-4885-92FD-E05A7667852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2812574"/>
              <a:ext cx="10515600" cy="224859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93119968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990737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13620696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70597742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Component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Logic Expression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102326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First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60593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Second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4323706"/>
                      </a:ext>
                    </a:extLst>
                  </a:tr>
                  <a:tr h="5112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XOR 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Produces the Sum 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96" t="-220238" r="-464" b="-144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02978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AND 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·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Produces the Carry 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96" t="-256190" r="-464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21954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91940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6E86-9DD1-F00B-719A-88628D7D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344" y="341933"/>
            <a:ext cx="10515600" cy="1330468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LOGIC DESIGN FOR FULL ADDER CIRCUIT</a:t>
            </a:r>
            <a:endParaRPr lang="en-IN" dirty="0">
              <a:highlight>
                <a:srgbClr val="C0C0C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4AFD291-808D-6031-39B7-0E12496DC1F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98047"/>
              <a:ext cx="10515600" cy="420649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408042679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99526239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4978186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0042576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Component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Logic Expression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25530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First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03125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Second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45898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Carry input from previous 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30902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XOR Gates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Produce the Sum 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IN"/>
                                  <m:t>Sum</m:t>
                                </m:r>
                                <m:r>
                                  <a:rPr lang="en-IN"/>
                                  <m:t>=</m:t>
                                </m:r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𝐴</m:t>
                                    </m:r>
                                    <m:nary>
                                      <m:naryPr>
                                        <m:chr m:val="⊕"/>
                                        <m:subHide m:val="on"/>
                                        <m:supHide m:val="on"/>
                                        <m:ctrlPr>
                                          <a:rPr lang="en-IN"/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en-IN"/>
                                          <m:t>𝐵</m:t>
                                        </m:r>
                                      </m:e>
                                    </m:nary>
                                  </m:e>
                                </m:d>
                                <m:nary>
                                  <m:naryPr>
                                    <m:chr m:val="⊕"/>
                                    <m:subHide m:val="on"/>
                                    <m:supHide m:val="on"/>
                                    <m:ctrlPr>
                                      <a:rPr lang="en-IN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Cin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22934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AND Gates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·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Generate intermediate carries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/>
                                <m:t>𝐴</m:t>
                              </m:r>
                              <m:r>
                                <a:rPr lang="en-IN"/>
                                <m:t>⋅</m:t>
                              </m:r>
                              <m:r>
                                <a:rPr lang="en-IN"/>
                                <m:t>𝐵</m:t>
                              </m:r>
                            </m:oMath>
                          </a14:m>
                          <a:r>
                            <a:rPr lang="en-IN"/>
                            <a:t>and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/>
                                <m:t>Cin</m:t>
                              </m:r>
                              <m:r>
                                <a:rPr lang="en-IN"/>
                                <m:t>⋅</m:t>
                              </m:r>
                              <m:d>
                                <m:dPr>
                                  <m:ctrlPr>
                                    <a:rPr lang="en-IN"/>
                                  </m:ctrlPr>
                                </m:dPr>
                                <m:e>
                                  <m:r>
                                    <a:rPr lang="en-IN"/>
                                    <m:t>𝐴</m:t>
                                  </m:r>
                                  <m:nary>
                                    <m:naryPr>
                                      <m:chr m:val="⊕"/>
                                      <m:subHide m:val="on"/>
                                      <m:supHide m:val="on"/>
                                      <m:ctrlPr>
                                        <a:rPr lang="en-IN"/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IN"/>
                                        <m:t>𝐵</m:t>
                                      </m:r>
                                    </m:e>
                                  </m:nary>
                                </m:e>
                              </m:d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8254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OR 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Combine carries to produce Carry-out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IN"/>
                                  <m:t>Cout</m:t>
                                </m:r>
                                <m:r>
                                  <a:rPr lang="en-IN"/>
                                  <m:t>=</m:t>
                                </m:r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𝐴</m:t>
                                    </m:r>
                                    <m:r>
                                      <a:rPr lang="en-IN"/>
                                      <m:t>⋅</m:t>
                                    </m:r>
                                    <m:r>
                                      <a:rPr lang="en-IN"/>
                                      <m:t>𝐵</m:t>
                                    </m:r>
                                  </m:e>
                                </m:d>
                                <m:r>
                                  <a:rPr lang="en-IN"/>
                                  <m:t>+</m:t>
                                </m:r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/>
                                      <m:t>Cin</m:t>
                                    </m:r>
                                    <m:r>
                                      <a:rPr lang="en-IN"/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en-IN"/>
                                        </m:ctrlPr>
                                      </m:dPr>
                                      <m:e>
                                        <m:r>
                                          <a:rPr lang="en-IN"/>
                                          <m:t>𝐴</m:t>
                                        </m:r>
                                        <m:nary>
                                          <m:naryPr>
                                            <m:chr m:val="⊕"/>
                                            <m:subHide m:val="on"/>
                                            <m:supHide m:val="on"/>
                                            <m:ctrlPr>
                                              <a:rPr lang="en-IN"/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r>
                                              <a:rPr lang="en-IN"/>
                                              <m:t>𝐵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50814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4AFD291-808D-6031-39B7-0E12496DC1F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98047"/>
              <a:ext cx="10515600" cy="420649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408042679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99526239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4978186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0042576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Component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Logic Expression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25530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First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03125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Second binary digit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45898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Input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Carry input from previous 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—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3090215"/>
                      </a:ext>
                    </a:extLst>
                  </a:tr>
                  <a:tr h="58521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XOR Gates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Produce the Sum 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96" t="-297938" r="-464" b="-320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229341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AND Gates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·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Generate intermediate carries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96" t="-367619" r="-464" b="-19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825444"/>
                      </a:ext>
                    </a:extLst>
                  </a:tr>
                  <a:tr h="124383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OR 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Combine carries to produce Carry-out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96" t="-240686" r="-464" b="-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50814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7709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1B5BA9-EE99-3FFF-D299-452BAD4A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378" y="-312309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HALF ADDER CIRCUIT LOGIC OUTPUT</a:t>
            </a:r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A23BE7-2CE7-CDF9-B6FC-67C74328B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78" y="1854502"/>
            <a:ext cx="7488194" cy="48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26160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5788-70DF-B0EA-45FB-5C9DC90D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016" y="243745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TRUTH TABLE OF HALF ADDER CIRCUIT</a:t>
            </a:r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828C8-E7BC-C8B7-9CA2-B1D495776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649" y="2402767"/>
            <a:ext cx="8390237" cy="28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08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0E10-7B2C-027E-272C-BE89CDB4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326" y="174794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FULL ADDER CIRCUIT LOGIC OUTPUT</a:t>
            </a:r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02A80-D3A3-D11D-8062-8E47DED71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259" y="1838685"/>
            <a:ext cx="10058400" cy="3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77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BAD1-849C-31C5-9723-41F95A67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598" y="152764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TRUTH TABLE FOR FULL ADDER CIRCUIT</a:t>
            </a:r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AE050-6F7D-0F66-B493-AFAD9DE98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60" y="1971397"/>
            <a:ext cx="7920680" cy="426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53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CE91-E86C-E509-6088-E7C405D4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267" y="212395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EXPECTED RESULT FOR HALF ADDER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BE73-B7E3-64A1-95D0-0BC5AF40C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114" y="2679656"/>
            <a:ext cx="10515600" cy="4351338"/>
          </a:xfrm>
        </p:spPr>
        <p:txBody>
          <a:bodyPr/>
          <a:lstStyle/>
          <a:p>
            <a:pPr lvl="0"/>
            <a:r>
              <a:rPr lang="en-IN" dirty="0">
                <a:effectLst/>
              </a:rPr>
              <a:t>When both inputs are </a:t>
            </a:r>
            <a:r>
              <a:rPr lang="en-IN" b="1" dirty="0">
                <a:effectLst/>
              </a:rPr>
              <a:t>0</a:t>
            </a:r>
            <a:r>
              <a:rPr lang="en-IN" dirty="0">
                <a:effectLst/>
              </a:rPr>
              <a:t>, the output is </a:t>
            </a:r>
            <a:r>
              <a:rPr lang="en-IN" b="1" dirty="0">
                <a:effectLst/>
              </a:rPr>
              <a:t>Sum = 0, Carry = 0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0"/>
            <a:r>
              <a:rPr lang="en-IN" dirty="0">
                <a:effectLst/>
              </a:rPr>
              <a:t>When one input is </a:t>
            </a:r>
            <a:r>
              <a:rPr lang="en-IN" b="1" dirty="0">
                <a:effectLst/>
              </a:rPr>
              <a:t>1</a:t>
            </a:r>
            <a:r>
              <a:rPr lang="en-IN" dirty="0">
                <a:effectLst/>
              </a:rPr>
              <a:t> and the other is </a:t>
            </a:r>
            <a:r>
              <a:rPr lang="en-IN" b="1" dirty="0">
                <a:effectLst/>
              </a:rPr>
              <a:t>0</a:t>
            </a:r>
            <a:r>
              <a:rPr lang="en-IN" dirty="0">
                <a:effectLst/>
              </a:rPr>
              <a:t>, the output is </a:t>
            </a:r>
            <a:r>
              <a:rPr lang="en-IN" b="1" dirty="0">
                <a:effectLst/>
              </a:rPr>
              <a:t>Sum = 1, Carry = 0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0"/>
            <a:r>
              <a:rPr lang="en-IN" dirty="0">
                <a:effectLst/>
              </a:rPr>
              <a:t>When both inputs are </a:t>
            </a:r>
            <a:r>
              <a:rPr lang="en-IN" b="1" dirty="0">
                <a:effectLst/>
              </a:rPr>
              <a:t>1</a:t>
            </a:r>
            <a:r>
              <a:rPr lang="en-IN" dirty="0">
                <a:effectLst/>
              </a:rPr>
              <a:t>, the output is </a:t>
            </a:r>
            <a:r>
              <a:rPr lang="en-IN" b="1" dirty="0">
                <a:effectLst/>
              </a:rPr>
              <a:t>Sum = 0, Carry = 1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36286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860F-6CA8-5AF6-7001-5DCE53CC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410" y="350544"/>
            <a:ext cx="10515600" cy="1325563"/>
          </a:xfrm>
        </p:spPr>
        <p:txBody>
          <a:bodyPr/>
          <a:lstStyle/>
          <a:p>
            <a:r>
              <a:rPr lang="en-US" dirty="0"/>
              <a:t>EXPECTED RESULT FOR FULL 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F3AAC-2281-4528-7A4B-7898D4ACA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557" y="2826522"/>
            <a:ext cx="10515600" cy="4351338"/>
          </a:xfrm>
        </p:spPr>
        <p:txBody>
          <a:bodyPr/>
          <a:lstStyle/>
          <a:p>
            <a:pPr lvl="0"/>
            <a:r>
              <a:rPr lang="en-IN" b="1" dirty="0">
                <a:effectLst/>
              </a:rPr>
              <a:t>Sum</a:t>
            </a:r>
            <a:r>
              <a:rPr lang="en-IN" dirty="0">
                <a:effectLst/>
              </a:rPr>
              <a:t> is </a:t>
            </a:r>
            <a:r>
              <a:rPr lang="en-IN" dirty="0"/>
              <a:t>1</a:t>
            </a:r>
            <a:r>
              <a:rPr lang="en-IN" dirty="0">
                <a:effectLst/>
              </a:rPr>
              <a:t> when an odd number of inputs are </a:t>
            </a:r>
            <a:r>
              <a:rPr lang="en-IN" dirty="0"/>
              <a:t>1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0"/>
            <a:r>
              <a:rPr lang="en-IN" dirty="0">
                <a:effectLst/>
              </a:rPr>
              <a:t>This ensures correct addition of three binary inputs (A, B, and Cin).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Carry-out (Cout)</a:t>
            </a:r>
            <a:r>
              <a:rPr lang="en-IN" dirty="0">
                <a:effectLst/>
              </a:rPr>
              <a:t> is </a:t>
            </a:r>
            <a:r>
              <a:rPr lang="en-IN" dirty="0"/>
              <a:t>1</a:t>
            </a:r>
            <a:r>
              <a:rPr lang="en-IN" dirty="0">
                <a:effectLst/>
              </a:rPr>
              <a:t> when at least two inputs are </a:t>
            </a:r>
            <a:r>
              <a:rPr lang="en-IN" dirty="0"/>
              <a:t>1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12700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E533-5F0C-8818-95B7-629C057C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19" y="2651017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sz="6000" dirty="0">
                <a:highlight>
                  <a:srgbClr val="C0C0C0"/>
                </a:highlight>
              </a:rPr>
              <a:t>THANK YOU</a:t>
            </a:r>
            <a:endParaRPr lang="en-IN" sz="60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41248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20</TotalTime>
  <Words>793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Light</vt:lpstr>
      <vt:lpstr>Arial</vt:lpstr>
      <vt:lpstr>Walbaum Display</vt:lpstr>
      <vt:lpstr>Shoji</vt:lpstr>
      <vt:lpstr>DIGITAL DESIGN AND COMPUTER ARCHITECTURE</vt:lpstr>
      <vt:lpstr>PROJECT TITLE:</vt:lpstr>
      <vt:lpstr>                                      PRESENTED BY:</vt:lpstr>
      <vt:lpstr>                                PROJECT OBJECTIVES</vt:lpstr>
      <vt:lpstr>                                     BASIC CONCEPT</vt:lpstr>
      <vt:lpstr>INPUT COMPONENTS AND OUTPUT DESCRIPTION</vt:lpstr>
      <vt:lpstr>LOGIC DESIGN FOR HALF ADDER CIRCUIT</vt:lpstr>
      <vt:lpstr>LOGIC DESIGN FOR FULL ADDER CIRCUIT</vt:lpstr>
      <vt:lpstr>HALF ADDER CIRCUIT LOGIC OUTPUT</vt:lpstr>
      <vt:lpstr>TRUTH TABLE OF HALF ADDER CIRCUIT</vt:lpstr>
      <vt:lpstr>FULL ADDER CIRCUIT LOGIC OUTPUT</vt:lpstr>
      <vt:lpstr>TRUTH TABLE FOR FULL ADDER CIRCUIT</vt:lpstr>
      <vt:lpstr>EXPECTED RESULT FOR HALF ADDER</vt:lpstr>
      <vt:lpstr>EXPECTED RESULT FOR FULL ADDER</vt:lpstr>
      <vt:lpstr>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Srivatsa</dc:creator>
  <cp:lastModifiedBy>Nikhil Srivatsa</cp:lastModifiedBy>
  <cp:revision>1</cp:revision>
  <dcterms:created xsi:type="dcterms:W3CDTF">2026-08-27T14:31:13Z</dcterms:created>
  <dcterms:modified xsi:type="dcterms:W3CDTF">2026-08-27T14:51:23Z</dcterms:modified>
</cp:coreProperties>
</file>